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15"/>
  </p:notesMasterIdLst>
  <p:sldIdLst>
    <p:sldId id="256" r:id="rId2"/>
    <p:sldId id="257" r:id="rId3"/>
    <p:sldId id="258" r:id="rId4"/>
    <p:sldId id="26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94660"/>
  </p:normalViewPr>
  <p:slideViewPr>
    <p:cSldViewPr snapToGrid="0"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E27C88-CAC6-4C8F-9E85-BE442B2F0303}" type="datetimeFigureOut">
              <a:rPr lang="en-US" smtClean="0"/>
              <a:t>12/1/2025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04318D-438D-45DD-A61E-6DCA0DE0B4FB}" type="slidenum">
              <a:rPr lang="en-US" smtClean="0"/>
              <a:t>‹#›</a:t>
            </a:fld>
            <a:endParaRPr lang="en-US"/>
          </a:p>
        </p:txBody>
      </p:sp>
    </p:spTree>
    <p:extLst>
      <p:ext uri="{BB962C8B-B14F-4D97-AF65-F5344CB8AC3E}">
        <p14:creationId xmlns:p14="http://schemas.microsoft.com/office/powerpoint/2010/main" val="970338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my name is Cortilious Spencer, and this presentation covers my Final Software Project for CST499. I’ll walk through the SRS, UML diagrams, system design, MySQL database, PHP development, testing, and lessons learned.</a:t>
            </a:r>
          </a:p>
          <a:p>
            <a:endParaRPr lang="en-US" dirty="0"/>
          </a:p>
        </p:txBody>
      </p:sp>
      <p:sp>
        <p:nvSpPr>
          <p:cNvPr id="4" name="Slide Number Placeholder 3"/>
          <p:cNvSpPr>
            <a:spLocks noGrp="1"/>
          </p:cNvSpPr>
          <p:nvPr>
            <p:ph type="sldNum" sz="quarter" idx="5"/>
          </p:nvPr>
        </p:nvSpPr>
        <p:spPr/>
        <p:txBody>
          <a:bodyPr/>
          <a:lstStyle/>
          <a:p>
            <a:fld id="{E404318D-438D-45DD-A61E-6DCA0DE0B4FB}" type="slidenum">
              <a:rPr lang="en-US" smtClean="0"/>
              <a:t>1</a:t>
            </a:fld>
            <a:endParaRPr lang="en-US"/>
          </a:p>
        </p:txBody>
      </p:sp>
    </p:spTree>
    <p:extLst>
      <p:ext uri="{BB962C8B-B14F-4D97-AF65-F5344CB8AC3E}">
        <p14:creationId xmlns:p14="http://schemas.microsoft.com/office/powerpoint/2010/main" val="1189199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will cover the major components of my final software project.</a:t>
            </a:r>
            <a:br>
              <a:rPr lang="en-US" dirty="0"/>
            </a:br>
            <a:r>
              <a:rPr lang="en-US" dirty="0"/>
              <a:t>I’ll start by summarizing the key elements of the SRS document, then move into the UML model that guided the system’s design.</a:t>
            </a:r>
            <a:br>
              <a:rPr lang="en-US" dirty="0"/>
            </a:br>
            <a:r>
              <a:rPr lang="en-US" dirty="0"/>
              <a:t>Next, I’ll walk through the landing, login, registration, and enrollment pages I developed.</a:t>
            </a:r>
            <a:br>
              <a:rPr lang="en-US" dirty="0"/>
            </a:br>
            <a:r>
              <a:rPr lang="en-US" dirty="0"/>
              <a:t>Then I’ll discuss the MySQL database and the class registration features.</a:t>
            </a:r>
            <a:br>
              <a:rPr lang="en-US" dirty="0"/>
            </a:br>
            <a:r>
              <a:rPr lang="en-US" dirty="0"/>
              <a:t>I’ll also highlight the PHP code used to build the system, and finally, I’ll end with a short testing summary and overall reflection of what I learned in this project.</a:t>
            </a:r>
          </a:p>
        </p:txBody>
      </p:sp>
      <p:sp>
        <p:nvSpPr>
          <p:cNvPr id="4" name="Slide Number Placeholder 3"/>
          <p:cNvSpPr>
            <a:spLocks noGrp="1"/>
          </p:cNvSpPr>
          <p:nvPr>
            <p:ph type="sldNum" sz="quarter" idx="5"/>
          </p:nvPr>
        </p:nvSpPr>
        <p:spPr/>
        <p:txBody>
          <a:bodyPr/>
          <a:lstStyle/>
          <a:p>
            <a:fld id="{E404318D-438D-45DD-A61E-6DCA0DE0B4FB}" type="slidenum">
              <a:rPr lang="en-US" smtClean="0"/>
              <a:t>2</a:t>
            </a:fld>
            <a:endParaRPr lang="en-US"/>
          </a:p>
        </p:txBody>
      </p:sp>
    </p:spTree>
    <p:extLst>
      <p:ext uri="{BB962C8B-B14F-4D97-AF65-F5344CB8AC3E}">
        <p14:creationId xmlns:p14="http://schemas.microsoft.com/office/powerpoint/2010/main" val="4092271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SRS document defines the purpose and requirements of the Online Course Registration System.</a:t>
            </a:r>
            <a:br>
              <a:rPr lang="en-US" dirty="0"/>
            </a:br>
            <a:r>
              <a:rPr lang="en-US" dirty="0"/>
              <a:t>It includes the system’s main goals, the user roles involved, and the functional and nonfunctional requirements.</a:t>
            </a:r>
            <a:br>
              <a:rPr lang="en-US" dirty="0"/>
            </a:br>
            <a:r>
              <a:rPr lang="en-US" dirty="0"/>
              <a:t>Functionally, the system must allow students to register, log in, browse courses, enroll in classes, and view or remove registered courses.</a:t>
            </a:r>
            <a:br>
              <a:rPr lang="en-US" dirty="0"/>
            </a:br>
            <a:r>
              <a:rPr lang="en-US" dirty="0"/>
              <a:t>Nonfunctional requirements ensure security, usability, performance, and reliability.</a:t>
            </a:r>
            <a:br>
              <a:rPr lang="en-US" dirty="0"/>
            </a:br>
            <a:r>
              <a:rPr lang="en-US" dirty="0"/>
              <a:t>This document essentially served as the blueprint for everything developed in this project.</a:t>
            </a:r>
          </a:p>
        </p:txBody>
      </p:sp>
      <p:sp>
        <p:nvSpPr>
          <p:cNvPr id="4" name="Slide Number Placeholder 3"/>
          <p:cNvSpPr>
            <a:spLocks noGrp="1"/>
          </p:cNvSpPr>
          <p:nvPr>
            <p:ph type="sldNum" sz="quarter" idx="5"/>
          </p:nvPr>
        </p:nvSpPr>
        <p:spPr/>
        <p:txBody>
          <a:bodyPr/>
          <a:lstStyle/>
          <a:p>
            <a:fld id="{E404318D-438D-45DD-A61E-6DCA0DE0B4FB}" type="slidenum">
              <a:rPr lang="en-US" smtClean="0"/>
              <a:t>3</a:t>
            </a:fld>
            <a:endParaRPr lang="en-US"/>
          </a:p>
        </p:txBody>
      </p:sp>
    </p:spTree>
    <p:extLst>
      <p:ext uri="{BB962C8B-B14F-4D97-AF65-F5344CB8AC3E}">
        <p14:creationId xmlns:p14="http://schemas.microsoft.com/office/powerpoint/2010/main" val="2081131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UML model helped visualize the system’s structure and behavior before coding began.</a:t>
            </a:r>
            <a:br>
              <a:rPr lang="en-US" dirty="0"/>
            </a:br>
            <a:r>
              <a:rPr lang="en-US" dirty="0"/>
              <a:t>It includes the class diagram, use case diagram, sequence diagram, activity diagram, and state diagram.</a:t>
            </a:r>
            <a:br>
              <a:rPr lang="en-US" dirty="0"/>
            </a:br>
            <a:r>
              <a:rPr lang="en-US" dirty="0"/>
              <a:t>These diagrams helped clarify interactions between the user, system components, and the database.</a:t>
            </a:r>
            <a:br>
              <a:rPr lang="en-US" dirty="0"/>
            </a:br>
            <a:r>
              <a:rPr lang="en-US" dirty="0"/>
              <a:t>Each UML element ensured that the project stayed aligned with the requirements defined in the SRS.</a:t>
            </a:r>
          </a:p>
        </p:txBody>
      </p:sp>
      <p:sp>
        <p:nvSpPr>
          <p:cNvPr id="4" name="Slide Number Placeholder 3"/>
          <p:cNvSpPr>
            <a:spLocks noGrp="1"/>
          </p:cNvSpPr>
          <p:nvPr>
            <p:ph type="sldNum" sz="quarter" idx="5"/>
          </p:nvPr>
        </p:nvSpPr>
        <p:spPr/>
        <p:txBody>
          <a:bodyPr/>
          <a:lstStyle/>
          <a:p>
            <a:fld id="{E404318D-438D-45DD-A61E-6DCA0DE0B4FB}" type="slidenum">
              <a:rPr lang="en-US" smtClean="0"/>
              <a:t>4</a:t>
            </a:fld>
            <a:endParaRPr lang="en-US"/>
          </a:p>
        </p:txBody>
      </p:sp>
    </p:spTree>
    <p:extLst>
      <p:ext uri="{BB962C8B-B14F-4D97-AF65-F5344CB8AC3E}">
        <p14:creationId xmlns:p14="http://schemas.microsoft.com/office/powerpoint/2010/main" val="986156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landing page serves as the system’s entry point and provides clear navigation choices for login or registration.</a:t>
            </a:r>
            <a:br>
              <a:rPr lang="en-US" dirty="0"/>
            </a:br>
            <a:r>
              <a:rPr lang="en-US" dirty="0"/>
              <a:t>The login page verifies user credentials through PHP and MySQL using secure password hashing.</a:t>
            </a:r>
            <a:br>
              <a:rPr lang="en-US" dirty="0"/>
            </a:br>
            <a:r>
              <a:rPr lang="en-US" dirty="0"/>
              <a:t>The registration page collects new user information and stores it in the database.</a:t>
            </a:r>
            <a:br>
              <a:rPr lang="en-US" dirty="0"/>
            </a:br>
            <a:r>
              <a:rPr lang="en-US" dirty="0"/>
              <a:t>Together, these pages form the foundation of the user authentication process.</a:t>
            </a:r>
          </a:p>
        </p:txBody>
      </p:sp>
      <p:sp>
        <p:nvSpPr>
          <p:cNvPr id="4" name="Slide Number Placeholder 3"/>
          <p:cNvSpPr>
            <a:spLocks noGrp="1"/>
          </p:cNvSpPr>
          <p:nvPr>
            <p:ph type="sldNum" sz="quarter" idx="5"/>
          </p:nvPr>
        </p:nvSpPr>
        <p:spPr/>
        <p:txBody>
          <a:bodyPr/>
          <a:lstStyle/>
          <a:p>
            <a:fld id="{E404318D-438D-45DD-A61E-6DCA0DE0B4FB}" type="slidenum">
              <a:rPr lang="en-US" smtClean="0"/>
              <a:t>5</a:t>
            </a:fld>
            <a:endParaRPr lang="en-US"/>
          </a:p>
        </p:txBody>
      </p:sp>
    </p:spTree>
    <p:extLst>
      <p:ext uri="{BB962C8B-B14F-4D97-AF65-F5344CB8AC3E}">
        <p14:creationId xmlns:p14="http://schemas.microsoft.com/office/powerpoint/2010/main" val="2176089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enrollment page displays all available courses pulled directly from the database.</a:t>
            </a:r>
            <a:br>
              <a:rPr lang="en-US" dirty="0"/>
            </a:br>
            <a:r>
              <a:rPr lang="en-US" dirty="0"/>
              <a:t>Students can add or remove classes, and these actions update the registrations table in real time.</a:t>
            </a:r>
            <a:br>
              <a:rPr lang="en-US" dirty="0"/>
            </a:br>
            <a:r>
              <a:rPr lang="en-US" dirty="0"/>
              <a:t>The page layout and logic were designed to be simple and user-friendly.</a:t>
            </a:r>
            <a:br>
              <a:rPr lang="en-US" dirty="0"/>
            </a:br>
            <a:r>
              <a:rPr lang="en-US" dirty="0"/>
              <a:t>This section also includes the “My Courses” page, where students can view and drop previously added classes.</a:t>
            </a:r>
          </a:p>
        </p:txBody>
      </p:sp>
      <p:sp>
        <p:nvSpPr>
          <p:cNvPr id="4" name="Slide Number Placeholder 3"/>
          <p:cNvSpPr>
            <a:spLocks noGrp="1"/>
          </p:cNvSpPr>
          <p:nvPr>
            <p:ph type="sldNum" sz="quarter" idx="5"/>
          </p:nvPr>
        </p:nvSpPr>
        <p:spPr/>
        <p:txBody>
          <a:bodyPr/>
          <a:lstStyle/>
          <a:p>
            <a:fld id="{E404318D-438D-45DD-A61E-6DCA0DE0B4FB}" type="slidenum">
              <a:rPr lang="en-US" smtClean="0"/>
              <a:t>6</a:t>
            </a:fld>
            <a:endParaRPr lang="en-US"/>
          </a:p>
        </p:txBody>
      </p:sp>
    </p:spTree>
    <p:extLst>
      <p:ext uri="{BB962C8B-B14F-4D97-AF65-F5344CB8AC3E}">
        <p14:creationId xmlns:p14="http://schemas.microsoft.com/office/powerpoint/2010/main" val="1824049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consists of three main tables: Users, Courses, and Registrations.</a:t>
            </a:r>
            <a:br>
              <a:rPr lang="en-US" dirty="0"/>
            </a:br>
            <a:r>
              <a:rPr lang="en-US" dirty="0"/>
              <a:t>The Users table stores account information with hashed passwords.</a:t>
            </a:r>
            <a:br>
              <a:rPr lang="en-US" dirty="0"/>
            </a:br>
            <a:r>
              <a:rPr lang="en-US" dirty="0"/>
              <a:t>The Courses table holds metadata like course code, name, credits, and instructors.</a:t>
            </a:r>
            <a:br>
              <a:rPr lang="en-US" dirty="0"/>
            </a:br>
            <a:r>
              <a:rPr lang="en-US" dirty="0"/>
              <a:t>The Registrations table connects users to their selected courses and is updated each time a user enrolls or deletes a class.</a:t>
            </a:r>
            <a:br>
              <a:rPr lang="en-US" dirty="0"/>
            </a:br>
            <a:r>
              <a:rPr lang="en-US" dirty="0"/>
              <a:t>The structure ensures data integrity and supports all core system feature</a:t>
            </a:r>
          </a:p>
        </p:txBody>
      </p:sp>
      <p:sp>
        <p:nvSpPr>
          <p:cNvPr id="4" name="Slide Number Placeholder 3"/>
          <p:cNvSpPr>
            <a:spLocks noGrp="1"/>
          </p:cNvSpPr>
          <p:nvPr>
            <p:ph type="sldNum" sz="quarter" idx="5"/>
          </p:nvPr>
        </p:nvSpPr>
        <p:spPr/>
        <p:txBody>
          <a:bodyPr/>
          <a:lstStyle/>
          <a:p>
            <a:fld id="{E404318D-438D-45DD-A61E-6DCA0DE0B4FB}" type="slidenum">
              <a:rPr lang="en-US" smtClean="0"/>
              <a:t>7</a:t>
            </a:fld>
            <a:endParaRPr lang="en-US"/>
          </a:p>
        </p:txBody>
      </p:sp>
    </p:spTree>
    <p:extLst>
      <p:ext uri="{BB962C8B-B14F-4D97-AF65-F5344CB8AC3E}">
        <p14:creationId xmlns:p14="http://schemas.microsoft.com/office/powerpoint/2010/main" val="2934092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registration workflow uses SQL statements to insert or delete records in the Registrations table.</a:t>
            </a:r>
            <a:br>
              <a:rPr lang="en-US" dirty="0"/>
            </a:br>
            <a:r>
              <a:rPr lang="en-US" dirty="0"/>
              <a:t>Screenshots of the database before and after each operation confirm that the SQL logic works correctly.</a:t>
            </a:r>
            <a:br>
              <a:rPr lang="en-US" dirty="0"/>
            </a:br>
            <a:r>
              <a:rPr lang="en-US" dirty="0"/>
              <a:t>Adding a course creates a new record, and removing one deletes the corresponding row.</a:t>
            </a:r>
            <a:br>
              <a:rPr lang="en-US" dirty="0"/>
            </a:br>
            <a:r>
              <a:rPr lang="en-US" dirty="0"/>
              <a:t>These before/after snapshots prove the system is functioning as intended.</a:t>
            </a:r>
          </a:p>
        </p:txBody>
      </p:sp>
      <p:sp>
        <p:nvSpPr>
          <p:cNvPr id="4" name="Slide Number Placeholder 3"/>
          <p:cNvSpPr>
            <a:spLocks noGrp="1"/>
          </p:cNvSpPr>
          <p:nvPr>
            <p:ph type="sldNum" sz="quarter" idx="5"/>
          </p:nvPr>
        </p:nvSpPr>
        <p:spPr/>
        <p:txBody>
          <a:bodyPr/>
          <a:lstStyle/>
          <a:p>
            <a:fld id="{E404318D-438D-45DD-A61E-6DCA0DE0B4FB}" type="slidenum">
              <a:rPr lang="en-US" smtClean="0"/>
              <a:t>8</a:t>
            </a:fld>
            <a:endParaRPr lang="en-US"/>
          </a:p>
        </p:txBody>
      </p:sp>
    </p:spTree>
    <p:extLst>
      <p:ext uri="{BB962C8B-B14F-4D97-AF65-F5344CB8AC3E}">
        <p14:creationId xmlns:p14="http://schemas.microsoft.com/office/powerpoint/2010/main" val="3104776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PHP powers the backend functionality of the system.</a:t>
            </a:r>
            <a:br>
              <a:rPr lang="en-US" dirty="0"/>
            </a:br>
            <a:r>
              <a:rPr lang="en-US" dirty="0"/>
              <a:t>The </a:t>
            </a:r>
            <a:r>
              <a:rPr lang="en-US" dirty="0" err="1"/>
              <a:t>database.php</a:t>
            </a:r>
            <a:r>
              <a:rPr lang="en-US" dirty="0"/>
              <a:t> file establishes a secure connection to MySQL.</a:t>
            </a:r>
            <a:br>
              <a:rPr lang="en-US" dirty="0"/>
            </a:br>
            <a:r>
              <a:rPr lang="en-US" dirty="0"/>
              <a:t>The </a:t>
            </a:r>
            <a:r>
              <a:rPr lang="en-US" dirty="0" err="1"/>
              <a:t>process_register.php</a:t>
            </a:r>
            <a:r>
              <a:rPr lang="en-US" dirty="0"/>
              <a:t> file handles new user accounts using password hashing.</a:t>
            </a:r>
            <a:br>
              <a:rPr lang="en-US" dirty="0"/>
            </a:br>
            <a:r>
              <a:rPr lang="en-US" dirty="0"/>
              <a:t>The </a:t>
            </a:r>
            <a:r>
              <a:rPr lang="en-US" dirty="0" err="1"/>
              <a:t>process_login.php</a:t>
            </a:r>
            <a:r>
              <a:rPr lang="en-US" dirty="0"/>
              <a:t> script verifies credentials and either logs the user in or returns an error.</a:t>
            </a:r>
            <a:br>
              <a:rPr lang="en-US" dirty="0"/>
            </a:br>
            <a:r>
              <a:rPr lang="en-US" dirty="0"/>
              <a:t>Other files manage course enrollment actions, retrieving course data, and displaying user-specific content.</a:t>
            </a:r>
          </a:p>
        </p:txBody>
      </p:sp>
      <p:sp>
        <p:nvSpPr>
          <p:cNvPr id="4" name="Slide Number Placeholder 3"/>
          <p:cNvSpPr>
            <a:spLocks noGrp="1"/>
          </p:cNvSpPr>
          <p:nvPr>
            <p:ph type="sldNum" sz="quarter" idx="5"/>
          </p:nvPr>
        </p:nvSpPr>
        <p:spPr/>
        <p:txBody>
          <a:bodyPr/>
          <a:lstStyle/>
          <a:p>
            <a:fld id="{E404318D-438D-45DD-A61E-6DCA0DE0B4FB}" type="slidenum">
              <a:rPr lang="en-US" smtClean="0"/>
              <a:t>9</a:t>
            </a:fld>
            <a:endParaRPr lang="en-US"/>
          </a:p>
        </p:txBody>
      </p:sp>
    </p:spTree>
    <p:extLst>
      <p:ext uri="{BB962C8B-B14F-4D97-AF65-F5344CB8AC3E}">
        <p14:creationId xmlns:p14="http://schemas.microsoft.com/office/powerpoint/2010/main" val="1237229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key features include secure password hashing, CRUD operations for the course registration system, and dynamic content retrieval.</a:t>
            </a:r>
            <a:br>
              <a:rPr lang="en-US" dirty="0"/>
            </a:br>
            <a:r>
              <a:rPr lang="en-US" dirty="0"/>
              <a:t>Session handling ensures that pages requiring authentication cannot be accessed without logging in.</a:t>
            </a:r>
            <a:br>
              <a:rPr lang="en-US" dirty="0"/>
            </a:br>
            <a:r>
              <a:rPr lang="en-US" dirty="0"/>
              <a:t>Overall, the PHP code demonstrates clean logic, clear organization, and proper use of database interactions.</a:t>
            </a:r>
          </a:p>
        </p:txBody>
      </p:sp>
      <p:sp>
        <p:nvSpPr>
          <p:cNvPr id="4" name="Slide Number Placeholder 3"/>
          <p:cNvSpPr>
            <a:spLocks noGrp="1"/>
          </p:cNvSpPr>
          <p:nvPr>
            <p:ph type="sldNum" sz="quarter" idx="5"/>
          </p:nvPr>
        </p:nvSpPr>
        <p:spPr/>
        <p:txBody>
          <a:bodyPr/>
          <a:lstStyle/>
          <a:p>
            <a:fld id="{E404318D-438D-45DD-A61E-6DCA0DE0B4FB}" type="slidenum">
              <a:rPr lang="en-US" smtClean="0"/>
              <a:t>10</a:t>
            </a:fld>
            <a:endParaRPr lang="en-US"/>
          </a:p>
        </p:txBody>
      </p:sp>
    </p:spTree>
    <p:extLst>
      <p:ext uri="{BB962C8B-B14F-4D97-AF65-F5344CB8AC3E}">
        <p14:creationId xmlns:p14="http://schemas.microsoft.com/office/powerpoint/2010/main" val="76962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included unit, integration, and system-level checks.</a:t>
            </a:r>
            <a:br>
              <a:rPr lang="en-US" dirty="0"/>
            </a:br>
            <a:r>
              <a:rPr lang="en-US" dirty="0"/>
              <a:t>I verified the database connection, tested registration and login logic, and confirmed the enrollment workflow.</a:t>
            </a:r>
            <a:br>
              <a:rPr lang="en-US" dirty="0"/>
            </a:br>
            <a:r>
              <a:rPr lang="en-US" dirty="0"/>
              <a:t>Each test was guided by requirements from the SRS to ensure full coverage.</a:t>
            </a:r>
            <a:br>
              <a:rPr lang="en-US" dirty="0"/>
            </a:br>
            <a:r>
              <a:rPr lang="en-US" dirty="0"/>
              <a:t>By validating every feature, I ensured the system works correctly and reliably before final submission.</a:t>
            </a:r>
          </a:p>
        </p:txBody>
      </p:sp>
      <p:sp>
        <p:nvSpPr>
          <p:cNvPr id="4" name="Slide Number Placeholder 3"/>
          <p:cNvSpPr>
            <a:spLocks noGrp="1"/>
          </p:cNvSpPr>
          <p:nvPr>
            <p:ph type="sldNum" sz="quarter" idx="5"/>
          </p:nvPr>
        </p:nvSpPr>
        <p:spPr/>
        <p:txBody>
          <a:bodyPr/>
          <a:lstStyle/>
          <a:p>
            <a:fld id="{E404318D-438D-45DD-A61E-6DCA0DE0B4FB}" type="slidenum">
              <a:rPr lang="en-US" smtClean="0"/>
              <a:t>11</a:t>
            </a:fld>
            <a:endParaRPr lang="en-US"/>
          </a:p>
        </p:txBody>
      </p:sp>
    </p:spTree>
    <p:extLst>
      <p:ext uri="{BB962C8B-B14F-4D97-AF65-F5344CB8AC3E}">
        <p14:creationId xmlns:p14="http://schemas.microsoft.com/office/powerpoint/2010/main" val="1632115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strengthened my skills in web development, database management, and software design.</a:t>
            </a:r>
            <a:br>
              <a:rPr lang="en-US" dirty="0"/>
            </a:br>
            <a:r>
              <a:rPr lang="en-US" dirty="0"/>
              <a:t>I learned how to convert an SRS into a working system and how UML diagrams support planning and implementation.</a:t>
            </a:r>
            <a:br>
              <a:rPr lang="en-US" dirty="0"/>
            </a:br>
            <a:r>
              <a:rPr lang="en-US" dirty="0"/>
              <a:t>I also gained hands-on experience writing PHP, designing MySQL tables, and debugging issues along the way.</a:t>
            </a:r>
            <a:br>
              <a:rPr lang="en-US" dirty="0"/>
            </a:br>
            <a:r>
              <a:rPr lang="en-US" dirty="0"/>
              <a:t>Overall, this was a valuable learning experience that helped me grow technically and professionally.</a:t>
            </a:r>
          </a:p>
        </p:txBody>
      </p:sp>
      <p:sp>
        <p:nvSpPr>
          <p:cNvPr id="4" name="Slide Number Placeholder 3"/>
          <p:cNvSpPr>
            <a:spLocks noGrp="1"/>
          </p:cNvSpPr>
          <p:nvPr>
            <p:ph type="sldNum" sz="quarter" idx="5"/>
          </p:nvPr>
        </p:nvSpPr>
        <p:spPr/>
        <p:txBody>
          <a:bodyPr/>
          <a:lstStyle/>
          <a:p>
            <a:fld id="{E404318D-438D-45DD-A61E-6DCA0DE0B4FB}" type="slidenum">
              <a:rPr lang="en-US" smtClean="0"/>
              <a:t>12</a:t>
            </a:fld>
            <a:endParaRPr lang="en-US"/>
          </a:p>
        </p:txBody>
      </p:sp>
    </p:spTree>
    <p:extLst>
      <p:ext uri="{BB962C8B-B14F-4D97-AF65-F5344CB8AC3E}">
        <p14:creationId xmlns:p14="http://schemas.microsoft.com/office/powerpoint/2010/main" val="10624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Freeform 28"/>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0503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7230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2032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7491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8017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6883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5102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5055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80443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61585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517472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13680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95581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73404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25253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24942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cxnSp>
          <p:nvCxnSpPr>
            <p:cNvPr id="7" name="Straight Connector 6"/>
            <p:cNvCxnSpPr/>
            <p:nvPr/>
          </p:nvCxnSpPr>
          <p:spPr>
            <a:xfrm flipV="1">
              <a:off x="5130830" y="4175605"/>
              <a:ext cx="4022475" cy="2682396"/>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latin typeface="Times New Roman" panose="02020603050405020304" pitchFamily="18" charset="0"/>
              </a:defRPr>
            </a:lvl1pPr>
          </a:lstStyle>
          <a:p>
            <a:fld id="{5BCAD085-E8A6-8845-BD4E-CB4CCA059FC4}" type="datetimeFigureOut">
              <a:rPr lang="en-US" smtClean="0"/>
              <a:pPr/>
              <a:t>12/1/2025</a:t>
            </a:fld>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latin typeface="Times New Roman" panose="02020603050405020304" pitchFamily="18" charset="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1471922288"/>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Times New Roman" panose="02020603050405020304" pitchFamily="18"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Times New Roman" panose="02020603050405020304" pitchFamily="18" charset="0"/>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Times New Roman" panose="02020603050405020304" pitchFamily="18" charset="0"/>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Times New Roman" panose="02020603050405020304" pitchFamily="18" charset="0"/>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Times New Roman" panose="02020603050405020304" pitchFamily="18" charset="0"/>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Times New Roman" panose="02020603050405020304" pitchFamily="18" charset="0"/>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026664" y="1630970"/>
            <a:ext cx="4791456" cy="2429613"/>
          </a:xfrm>
        </p:spPr>
        <p:txBody>
          <a:bodyPr vert="horz" lIns="91440" tIns="45720" rIns="91440" bIns="45720" rtlCol="0">
            <a:normAutofit/>
          </a:bodyPr>
          <a:lstStyle/>
          <a:p>
            <a:pPr algn="l">
              <a:lnSpc>
                <a:spcPct val="90000"/>
              </a:lnSpc>
            </a:pPr>
            <a:r>
              <a:rPr lang="en-US" sz="4200" b="1" dirty="0">
                <a:latin typeface="Times New Roman" panose="02020603050405020304" pitchFamily="18" charset="0"/>
                <a:cs typeface="Times New Roman" panose="02020603050405020304" pitchFamily="18" charset="0"/>
              </a:rPr>
              <a:t>Final Software Project Presentation</a:t>
            </a:r>
          </a:p>
        </p:txBody>
      </p:sp>
      <p:sp>
        <p:nvSpPr>
          <p:cNvPr id="3" name="Subtitle 2"/>
          <p:cNvSpPr>
            <a:spLocks noGrp="1"/>
          </p:cNvSpPr>
          <p:nvPr>
            <p:ph type="subTitle" idx="1"/>
          </p:nvPr>
        </p:nvSpPr>
        <p:spPr>
          <a:xfrm>
            <a:off x="3145536" y="4008834"/>
            <a:ext cx="4791456" cy="2429613"/>
          </a:xfrm>
        </p:spPr>
        <p:txBody>
          <a:bodyPr vert="horz" lIns="91440" tIns="45720" rIns="91440" bIns="45720" rtlCol="0">
            <a:normAutofit lnSpcReduction="10000"/>
          </a:bodyPr>
          <a:lstStyle/>
          <a:p>
            <a:pPr algn="l">
              <a:lnSpc>
                <a:spcPct val="200000"/>
              </a:lnSpc>
              <a:spcBef>
                <a:spcPts val="0"/>
              </a:spcBef>
            </a:pPr>
            <a:r>
              <a:rPr lang="en-US" sz="2000" dirty="0">
                <a:latin typeface="Times New Roman" panose="02020603050405020304" pitchFamily="18" charset="0"/>
                <a:cs typeface="Times New Roman" panose="02020603050405020304" pitchFamily="18" charset="0"/>
              </a:rPr>
              <a:t>Cortilious Spencer</a:t>
            </a:r>
          </a:p>
          <a:p>
            <a:pPr algn="l">
              <a:lnSpc>
                <a:spcPct val="200000"/>
              </a:lnSpc>
              <a:spcBef>
                <a:spcPts val="0"/>
              </a:spcBef>
            </a:pPr>
            <a:r>
              <a:rPr lang="en-US" sz="2000" dirty="0">
                <a:latin typeface="Times New Roman" panose="02020603050405020304" pitchFamily="18" charset="0"/>
                <a:cs typeface="Times New Roman" panose="02020603050405020304" pitchFamily="18" charset="0"/>
              </a:rPr>
              <a:t>CST499: Capstone for Computer Software</a:t>
            </a:r>
          </a:p>
          <a:p>
            <a:pPr algn="l">
              <a:lnSpc>
                <a:spcPct val="200000"/>
              </a:lnSpc>
              <a:spcBef>
                <a:spcPts val="0"/>
              </a:spcBef>
            </a:pPr>
            <a:r>
              <a:rPr lang="en-US" sz="2000" dirty="0">
                <a:latin typeface="Times New Roman" panose="02020603050405020304" pitchFamily="18" charset="0"/>
                <a:cs typeface="Times New Roman" panose="02020603050405020304" pitchFamily="18" charset="0"/>
              </a:rPr>
              <a:t>Dr. Charmelia Butler</a:t>
            </a:r>
          </a:p>
          <a:p>
            <a:pPr algn="l">
              <a:lnSpc>
                <a:spcPct val="200000"/>
              </a:lnSpc>
              <a:spcBef>
                <a:spcPts val="0"/>
              </a:spcBef>
            </a:pPr>
            <a:r>
              <a:rPr lang="en-US" sz="2000" dirty="0">
                <a:latin typeface="Times New Roman" panose="02020603050405020304" pitchFamily="18" charset="0"/>
                <a:cs typeface="Times New Roman" panose="02020603050405020304" pitchFamily="18" charset="0"/>
              </a:rPr>
              <a:t>December 02</a:t>
            </a:r>
            <a:r>
              <a:rPr lang="en-US" sz="2000" dirty="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2025</a:t>
            </a:r>
          </a:p>
        </p:txBody>
      </p:sp>
      <p:sp>
        <p:nvSpPr>
          <p:cNvPr id="10" name="Isosceles Triangle 9">
            <a:extLst>
              <a:ext uri="{FF2B5EF4-FFF2-40B4-BE49-F238E27FC236}">
                <a16:creationId xmlns:a16="http://schemas.microsoft.com/office/drawing/2014/main" id="{03D271DD-C9EA-4985-BA0C-037A88FA30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1270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Graphic 6" descr="Laptop">
            <a:extLst>
              <a:ext uri="{FF2B5EF4-FFF2-40B4-BE49-F238E27FC236}">
                <a16:creationId xmlns:a16="http://schemas.microsoft.com/office/drawing/2014/main" id="{B59089AE-423E-464C-CE2B-EB5396BAEDB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4328" y="2065081"/>
            <a:ext cx="2279547" cy="227954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8" y="499872"/>
            <a:ext cx="6347713" cy="1320800"/>
          </a:xfrm>
        </p:spPr>
        <p:txBody>
          <a:bodyPr/>
          <a:lstStyle/>
          <a:p>
            <a:r>
              <a:rPr sz="4000" dirty="0">
                <a:latin typeface="Times New Roman" panose="02020603050405020304" pitchFamily="18" charset="0"/>
                <a:cs typeface="Times New Roman" panose="02020603050405020304" pitchFamily="18" charset="0"/>
              </a:rPr>
              <a:t>Agenda</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598" y="1426464"/>
            <a:ext cx="8689850" cy="5303520"/>
          </a:xfrm>
        </p:spPr>
        <p:txBody>
          <a:bodyPr>
            <a:normAutofit/>
          </a:bodyPr>
          <a:lstStyle/>
          <a:p>
            <a:pPr>
              <a:lnSpc>
                <a:spcPct val="200000"/>
              </a:lnSpc>
            </a:pPr>
            <a:r>
              <a:rPr lang="en-US" sz="2000" dirty="0">
                <a:latin typeface="Times New Roman" panose="02020603050405020304" pitchFamily="18" charset="0"/>
                <a:cs typeface="Times New Roman" panose="02020603050405020304" pitchFamily="18" charset="0"/>
              </a:rPr>
              <a:t>Overview of SRS key components  </a:t>
            </a:r>
          </a:p>
          <a:p>
            <a:pPr>
              <a:lnSpc>
                <a:spcPct val="200000"/>
              </a:lnSpc>
            </a:pPr>
            <a:r>
              <a:rPr lang="en-US" sz="2000" dirty="0">
                <a:latin typeface="Times New Roman" panose="02020603050405020304" pitchFamily="18" charset="0"/>
                <a:cs typeface="Times New Roman" panose="02020603050405020304" pitchFamily="18" charset="0"/>
              </a:rPr>
              <a:t>UML diagrams developed for the system  </a:t>
            </a:r>
          </a:p>
          <a:p>
            <a:pPr>
              <a:lnSpc>
                <a:spcPct val="200000"/>
              </a:lnSpc>
            </a:pPr>
            <a:r>
              <a:rPr lang="en-US" sz="2000" dirty="0">
                <a:latin typeface="Times New Roman" panose="02020603050405020304" pitchFamily="18" charset="0"/>
                <a:cs typeface="Times New Roman" panose="02020603050405020304" pitchFamily="18" charset="0"/>
              </a:rPr>
              <a:t>Design of landing, login, and registration pages  </a:t>
            </a:r>
          </a:p>
          <a:p>
            <a:pPr>
              <a:lnSpc>
                <a:spcPct val="200000"/>
              </a:lnSpc>
            </a:pPr>
            <a:r>
              <a:rPr lang="en-US" sz="2000" dirty="0">
                <a:latin typeface="Times New Roman" panose="02020603050405020304" pitchFamily="18" charset="0"/>
                <a:cs typeface="Times New Roman" panose="02020603050405020304" pitchFamily="18" charset="0"/>
              </a:rPr>
              <a:t>Enrollment page and workflow  </a:t>
            </a:r>
          </a:p>
          <a:p>
            <a:pPr>
              <a:lnSpc>
                <a:spcPct val="200000"/>
              </a:lnSpc>
            </a:pPr>
            <a:r>
              <a:rPr lang="en-US" sz="2000" dirty="0">
                <a:latin typeface="Times New Roman" panose="02020603050405020304" pitchFamily="18" charset="0"/>
                <a:cs typeface="Times New Roman" panose="02020603050405020304" pitchFamily="18" charset="0"/>
              </a:rPr>
              <a:t>MySQL database structure and tables  </a:t>
            </a:r>
          </a:p>
          <a:p>
            <a:pPr>
              <a:lnSpc>
                <a:spcPct val="200000"/>
              </a:lnSpc>
            </a:pPr>
            <a:r>
              <a:rPr lang="en-US" sz="2000" dirty="0">
                <a:latin typeface="Times New Roman" panose="02020603050405020304" pitchFamily="18" charset="0"/>
                <a:cs typeface="Times New Roman" panose="02020603050405020304" pitchFamily="18" charset="0"/>
              </a:rPr>
              <a:t>PHP code and backend implementation  </a:t>
            </a:r>
          </a:p>
          <a:p>
            <a:pPr>
              <a:lnSpc>
                <a:spcPct val="200000"/>
              </a:lnSpc>
            </a:pPr>
            <a:r>
              <a:rPr lang="en-US" sz="2000" dirty="0">
                <a:latin typeface="Times New Roman" panose="02020603050405020304" pitchFamily="18" charset="0"/>
                <a:cs typeface="Times New Roman" panose="02020603050405020304" pitchFamily="18" charset="0"/>
              </a:rPr>
              <a:t>Testing summary and final project reflection</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7335" y="47194"/>
            <a:ext cx="3479225" cy="738059"/>
          </a:xfrm>
        </p:spPr>
        <p:txBody>
          <a:bodyPr anchor="ctr">
            <a:normAutofit/>
          </a:bodyPr>
          <a:lstStyle/>
          <a:p>
            <a:r>
              <a:rPr lang="en-US" sz="4000" dirty="0">
                <a:latin typeface="Times New Roman" panose="02020603050405020304" pitchFamily="18" charset="0"/>
                <a:cs typeface="Times New Roman" panose="02020603050405020304" pitchFamily="18" charset="0"/>
              </a:rPr>
              <a:t>SRS Summary</a:t>
            </a:r>
          </a:p>
        </p:txBody>
      </p:sp>
      <p:sp>
        <p:nvSpPr>
          <p:cNvPr id="3" name="Content Placeholder 2"/>
          <p:cNvSpPr>
            <a:spLocks noGrp="1"/>
          </p:cNvSpPr>
          <p:nvPr>
            <p:ph idx="1"/>
          </p:nvPr>
        </p:nvSpPr>
        <p:spPr>
          <a:xfrm>
            <a:off x="428370" y="585216"/>
            <a:ext cx="5405502" cy="6275389"/>
          </a:xfrm>
        </p:spPr>
        <p:txBody>
          <a:bodyPr>
            <a:normAutofit/>
          </a:bodyPr>
          <a:lstStyle/>
          <a:p>
            <a:pPr>
              <a:lnSpc>
                <a:spcPct val="200000"/>
              </a:lnSpc>
              <a:spcBef>
                <a:spcPts val="0"/>
              </a:spcBef>
            </a:pPr>
            <a:r>
              <a:rPr lang="en-US" sz="2000" dirty="0">
                <a:latin typeface="Times New Roman" panose="02020603050405020304" pitchFamily="18" charset="0"/>
                <a:cs typeface="Times New Roman" panose="02020603050405020304" pitchFamily="18" charset="0"/>
              </a:rPr>
              <a:t>Defines overall purpose and scope of the system  </a:t>
            </a:r>
          </a:p>
          <a:p>
            <a:pPr>
              <a:lnSpc>
                <a:spcPct val="200000"/>
              </a:lnSpc>
              <a:spcBef>
                <a:spcPts val="0"/>
              </a:spcBef>
            </a:pPr>
            <a:r>
              <a:rPr lang="en-US" sz="2000" dirty="0">
                <a:latin typeface="Times New Roman" panose="02020603050405020304" pitchFamily="18" charset="0"/>
                <a:cs typeface="Times New Roman" panose="02020603050405020304" pitchFamily="18" charset="0"/>
              </a:rPr>
              <a:t>Identifies students and administrators as primary users  </a:t>
            </a:r>
          </a:p>
          <a:p>
            <a:pPr>
              <a:lnSpc>
                <a:spcPct val="200000"/>
              </a:lnSpc>
              <a:spcBef>
                <a:spcPts val="0"/>
              </a:spcBef>
            </a:pPr>
            <a:r>
              <a:rPr lang="en-US" sz="2000" dirty="0">
                <a:latin typeface="Times New Roman" panose="02020603050405020304" pitchFamily="18" charset="0"/>
                <a:cs typeface="Times New Roman" panose="02020603050405020304" pitchFamily="18" charset="0"/>
              </a:rPr>
              <a:t>Functional requirements: login, registration, course browsing, enrollment  </a:t>
            </a:r>
          </a:p>
          <a:p>
            <a:pPr>
              <a:lnSpc>
                <a:spcPct val="200000"/>
              </a:lnSpc>
              <a:spcBef>
                <a:spcPts val="0"/>
              </a:spcBef>
            </a:pPr>
            <a:r>
              <a:rPr lang="en-US" sz="2000" dirty="0">
                <a:latin typeface="Times New Roman" panose="02020603050405020304" pitchFamily="18" charset="0"/>
                <a:cs typeface="Times New Roman" panose="02020603050405020304" pitchFamily="18" charset="0"/>
              </a:rPr>
              <a:t>Nonfunctional requirements: security, performance, usability, reliability  </a:t>
            </a:r>
          </a:p>
          <a:p>
            <a:pPr>
              <a:lnSpc>
                <a:spcPct val="200000"/>
              </a:lnSpc>
              <a:spcBef>
                <a:spcPts val="0"/>
              </a:spcBef>
            </a:pPr>
            <a:r>
              <a:rPr lang="en-US" sz="2000" dirty="0">
                <a:latin typeface="Times New Roman" panose="02020603050405020304" pitchFamily="18" charset="0"/>
                <a:cs typeface="Times New Roman" panose="02020603050405020304" pitchFamily="18" charset="0"/>
              </a:rPr>
              <a:t>Establishes a clear blueprint for development and testing</a:t>
            </a:r>
          </a:p>
        </p:txBody>
      </p:sp>
      <p:pic>
        <p:nvPicPr>
          <p:cNvPr id="7" name="Picture 6">
            <a:extLst>
              <a:ext uri="{FF2B5EF4-FFF2-40B4-BE49-F238E27FC236}">
                <a16:creationId xmlns:a16="http://schemas.microsoft.com/office/drawing/2014/main" id="{60397133-41EF-8838-5AEE-2FEE8503CC73}"/>
              </a:ext>
            </a:extLst>
          </p:cNvPr>
          <p:cNvPicPr>
            <a:picLocks noChangeAspect="1"/>
          </p:cNvPicPr>
          <p:nvPr/>
        </p:nvPicPr>
        <p:blipFill>
          <a:blip r:embed="rId3"/>
          <a:stretch>
            <a:fillRect/>
          </a:stretch>
        </p:blipFill>
        <p:spPr>
          <a:xfrm>
            <a:off x="5504688" y="1159492"/>
            <a:ext cx="3494406" cy="5088583"/>
          </a:xfrm>
          <a:prstGeom prst="rect">
            <a:avLst/>
          </a:prstGeom>
          <a:ln>
            <a:solidFill>
              <a:schemeClr val="accent1"/>
            </a:solidFill>
          </a:ln>
          <a:effectLst>
            <a:outerShdw blurRad="190500" algn="tl" rotWithShape="0">
              <a:srgbClr val="000000">
                <a:alpha val="7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5D7E6BC0-1416-9C23-7EFA-5343B545A54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9C95B662-7489-60AD-72D8-34479A1FA598}"/>
              </a:ext>
            </a:extLst>
          </p:cNvPr>
          <p:cNvPicPr>
            <a:picLocks noChangeAspect="1"/>
          </p:cNvPicPr>
          <p:nvPr/>
        </p:nvPicPr>
        <p:blipFill>
          <a:blip r:embed="rId3"/>
          <a:stretch>
            <a:fillRect/>
          </a:stretch>
        </p:blipFill>
        <p:spPr>
          <a:xfrm>
            <a:off x="0" y="0"/>
            <a:ext cx="9144000" cy="6858000"/>
          </a:xfrm>
          <a:prstGeom prst="rect">
            <a:avLst/>
          </a:prstGeom>
        </p:spPr>
      </p:pic>
      <p:sp>
        <p:nvSpPr>
          <p:cNvPr id="2" name="Title 1">
            <a:extLst>
              <a:ext uri="{FF2B5EF4-FFF2-40B4-BE49-F238E27FC236}">
                <a16:creationId xmlns:a16="http://schemas.microsoft.com/office/drawing/2014/main" id="{5007E3CA-22D0-DEB3-1A1B-9E38C4284AE2}"/>
              </a:ext>
            </a:extLst>
          </p:cNvPr>
          <p:cNvSpPr>
            <a:spLocks noGrp="1"/>
          </p:cNvSpPr>
          <p:nvPr>
            <p:ph type="title"/>
          </p:nvPr>
        </p:nvSpPr>
        <p:spPr>
          <a:xfrm>
            <a:off x="443244" y="210048"/>
            <a:ext cx="4988292" cy="472997"/>
          </a:xfrm>
        </p:spPr>
        <p:txBody>
          <a:bodyPr anchor="b">
            <a:noAutofit/>
          </a:bodyPr>
          <a:lstStyle/>
          <a:p>
            <a:r>
              <a:rPr lang="en-US" sz="4000" dirty="0"/>
              <a:t>UML Overview</a:t>
            </a:r>
          </a:p>
        </p:txBody>
      </p:sp>
      <p:sp>
        <p:nvSpPr>
          <p:cNvPr id="3" name="Content Placeholder 2">
            <a:extLst>
              <a:ext uri="{FF2B5EF4-FFF2-40B4-BE49-F238E27FC236}">
                <a16:creationId xmlns:a16="http://schemas.microsoft.com/office/drawing/2014/main" id="{613D663A-C88B-5781-DB9F-955A67CE5E3D}"/>
              </a:ext>
            </a:extLst>
          </p:cNvPr>
          <p:cNvSpPr>
            <a:spLocks noGrp="1"/>
          </p:cNvSpPr>
          <p:nvPr>
            <p:ph idx="1"/>
          </p:nvPr>
        </p:nvSpPr>
        <p:spPr>
          <a:xfrm>
            <a:off x="387874" y="691204"/>
            <a:ext cx="4766764" cy="6079975"/>
          </a:xfrm>
        </p:spPr>
        <p:txBody>
          <a:bodyPr anchor="t">
            <a:normAutofit/>
          </a:bodyPr>
          <a:lstStyle/>
          <a:p>
            <a:pPr>
              <a:lnSpc>
                <a:spcPct val="200000"/>
              </a:lnSpc>
              <a:spcBef>
                <a:spcPts val="0"/>
              </a:spcBef>
            </a:pPr>
            <a:r>
              <a:rPr lang="en-US" dirty="0">
                <a:solidFill>
                  <a:srgbClr val="FFFFFF"/>
                </a:solidFill>
              </a:rPr>
              <a:t>UML diagrams visualize system structure  and behavior  </a:t>
            </a:r>
          </a:p>
          <a:p>
            <a:pPr>
              <a:lnSpc>
                <a:spcPct val="200000"/>
              </a:lnSpc>
              <a:spcBef>
                <a:spcPts val="0"/>
              </a:spcBef>
            </a:pPr>
            <a:r>
              <a:rPr lang="en-US" dirty="0">
                <a:solidFill>
                  <a:srgbClr val="FFFFFF"/>
                </a:solidFill>
              </a:rPr>
              <a:t>Class diagram defines key system entities  and relationships  </a:t>
            </a:r>
          </a:p>
          <a:p>
            <a:pPr>
              <a:lnSpc>
                <a:spcPct val="200000"/>
              </a:lnSpc>
              <a:spcBef>
                <a:spcPts val="0"/>
              </a:spcBef>
            </a:pPr>
            <a:r>
              <a:rPr lang="en-US" dirty="0">
                <a:solidFill>
                  <a:srgbClr val="FFFFFF"/>
                </a:solidFill>
              </a:rPr>
              <a:t>Use case diagram outlines user interactions and system functions  </a:t>
            </a:r>
          </a:p>
          <a:p>
            <a:pPr>
              <a:lnSpc>
                <a:spcPct val="200000"/>
              </a:lnSpc>
              <a:spcBef>
                <a:spcPts val="0"/>
              </a:spcBef>
            </a:pPr>
            <a:r>
              <a:rPr lang="en-US" dirty="0">
                <a:solidFill>
                  <a:srgbClr val="FFFFFF"/>
                </a:solidFill>
              </a:rPr>
              <a:t>Sequence diagram shows request and response flows  </a:t>
            </a:r>
          </a:p>
          <a:p>
            <a:pPr>
              <a:lnSpc>
                <a:spcPct val="200000"/>
              </a:lnSpc>
              <a:spcBef>
                <a:spcPts val="0"/>
              </a:spcBef>
            </a:pPr>
            <a:r>
              <a:rPr lang="en-US" dirty="0">
                <a:solidFill>
                  <a:srgbClr val="FFFFFF"/>
                </a:solidFill>
              </a:rPr>
              <a:t>Activity and state diagrams map system processes and transitions  </a:t>
            </a:r>
          </a:p>
          <a:p>
            <a:pPr>
              <a:lnSpc>
                <a:spcPct val="200000"/>
              </a:lnSpc>
              <a:spcBef>
                <a:spcPts val="0"/>
              </a:spcBef>
            </a:pPr>
            <a:r>
              <a:rPr lang="en-US" dirty="0">
                <a:solidFill>
                  <a:srgbClr val="FFFFFF"/>
                </a:solidFill>
              </a:rPr>
              <a:t>Provides clarity before implementation begins</a:t>
            </a:r>
          </a:p>
        </p:txBody>
      </p:sp>
      <p:pic>
        <p:nvPicPr>
          <p:cNvPr id="5" name="Picture 4" descr="A diagram of a student&#10;&#10;AI-generated content may be incorrect.">
            <a:extLst>
              <a:ext uri="{FF2B5EF4-FFF2-40B4-BE49-F238E27FC236}">
                <a16:creationId xmlns:a16="http://schemas.microsoft.com/office/drawing/2014/main" id="{F8FA25D6-9B85-454C-7FEC-766A213A38CE}"/>
              </a:ext>
            </a:extLst>
          </p:cNvPr>
          <p:cNvPicPr>
            <a:picLocks noChangeAspect="1"/>
          </p:cNvPicPr>
          <p:nvPr/>
        </p:nvPicPr>
        <p:blipFill>
          <a:blip r:embed="rId4"/>
          <a:srcRect l="11885"/>
          <a:stretch>
            <a:fillRect/>
          </a:stretch>
        </p:blipFill>
        <p:spPr>
          <a:xfrm>
            <a:off x="4928088" y="73499"/>
            <a:ext cx="2843795" cy="235597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Picture 5" descr="A diagram of a system&#10;&#10;AI-generated content may be incorrect.">
            <a:extLst>
              <a:ext uri="{FF2B5EF4-FFF2-40B4-BE49-F238E27FC236}">
                <a16:creationId xmlns:a16="http://schemas.microsoft.com/office/drawing/2014/main" id="{5D481E34-1673-7056-A760-FA3E43B3D779}"/>
              </a:ext>
            </a:extLst>
          </p:cNvPr>
          <p:cNvPicPr>
            <a:picLocks noChangeAspect="1"/>
          </p:cNvPicPr>
          <p:nvPr/>
        </p:nvPicPr>
        <p:blipFill>
          <a:blip r:embed="rId5"/>
          <a:srcRect b="23862"/>
          <a:stretch>
            <a:fillRect/>
          </a:stretch>
        </p:blipFill>
        <p:spPr>
          <a:xfrm>
            <a:off x="5138029" y="2652573"/>
            <a:ext cx="3868795" cy="174027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8" name="Picture 7" descr="A diagram of a process&#10;&#10;AI-generated content may be incorrect.">
            <a:extLst>
              <a:ext uri="{FF2B5EF4-FFF2-40B4-BE49-F238E27FC236}">
                <a16:creationId xmlns:a16="http://schemas.microsoft.com/office/drawing/2014/main" id="{0D6EE9FF-A5F7-A2F1-A493-FB36983C9106}"/>
              </a:ext>
            </a:extLst>
          </p:cNvPr>
          <p:cNvPicPr>
            <a:picLocks noChangeAspect="1"/>
          </p:cNvPicPr>
          <p:nvPr/>
        </p:nvPicPr>
        <p:blipFill>
          <a:blip r:embed="rId6"/>
          <a:srcRect l="15498" r="18631"/>
          <a:stretch>
            <a:fillRect/>
          </a:stretch>
        </p:blipFill>
        <p:spPr>
          <a:xfrm>
            <a:off x="5340270" y="4615951"/>
            <a:ext cx="1009715" cy="186935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4" name="Picture 3" descr="A diagram of a course&#10;&#10;AI-generated content may be incorrect.">
            <a:extLst>
              <a:ext uri="{FF2B5EF4-FFF2-40B4-BE49-F238E27FC236}">
                <a16:creationId xmlns:a16="http://schemas.microsoft.com/office/drawing/2014/main" id="{28EC1781-CC31-C38C-2A84-E6CD6C0BD763}"/>
              </a:ext>
            </a:extLst>
          </p:cNvPr>
          <p:cNvPicPr>
            <a:picLocks noChangeAspect="1"/>
          </p:cNvPicPr>
          <p:nvPr/>
        </p:nvPicPr>
        <p:blipFill>
          <a:blip r:embed="rId7"/>
          <a:srcRect l="5596" r="12289"/>
          <a:stretch>
            <a:fillRect/>
          </a:stretch>
        </p:blipFill>
        <p:spPr>
          <a:xfrm>
            <a:off x="6782929" y="4774199"/>
            <a:ext cx="2152127" cy="155285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descr="A diagram of a course&#10;&#10;AI-generated content may be incorrect.">
            <a:extLst>
              <a:ext uri="{FF2B5EF4-FFF2-40B4-BE49-F238E27FC236}">
                <a16:creationId xmlns:a16="http://schemas.microsoft.com/office/drawing/2014/main" id="{72B147D8-7CFB-89C5-1663-F64AFC12427F}"/>
              </a:ext>
            </a:extLst>
          </p:cNvPr>
          <p:cNvPicPr>
            <a:picLocks noChangeAspect="1"/>
          </p:cNvPicPr>
          <p:nvPr/>
        </p:nvPicPr>
        <p:blipFill>
          <a:blip r:embed="rId8"/>
          <a:srcRect l="14737" r="26601"/>
          <a:stretch>
            <a:fillRect/>
          </a:stretch>
        </p:blipFill>
        <p:spPr>
          <a:xfrm>
            <a:off x="7858993" y="113867"/>
            <a:ext cx="1197896" cy="227524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516197790"/>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41797" y="89408"/>
            <a:ext cx="5260406" cy="852424"/>
          </a:xfrm>
        </p:spPr>
        <p:txBody>
          <a:bodyPr>
            <a:normAutofit/>
          </a:bodyPr>
          <a:lstStyle/>
          <a:p>
            <a:r>
              <a:rPr lang="en-US" sz="4000" dirty="0"/>
              <a:t>Landing / Login Pages</a:t>
            </a:r>
          </a:p>
        </p:txBody>
      </p:sp>
      <p:pic>
        <p:nvPicPr>
          <p:cNvPr id="5" name="Picture 4">
            <a:extLst>
              <a:ext uri="{FF2B5EF4-FFF2-40B4-BE49-F238E27FC236}">
                <a16:creationId xmlns:a16="http://schemas.microsoft.com/office/drawing/2014/main" id="{9F1320E1-11A3-E57E-57B3-68CCC05D8A0F}"/>
              </a:ext>
            </a:extLst>
          </p:cNvPr>
          <p:cNvPicPr>
            <a:picLocks noChangeAspect="1"/>
          </p:cNvPicPr>
          <p:nvPr/>
        </p:nvPicPr>
        <p:blipFill>
          <a:blip r:embed="rId3"/>
          <a:stretch>
            <a:fillRect/>
          </a:stretch>
        </p:blipFill>
        <p:spPr>
          <a:xfrm>
            <a:off x="4893225" y="4064000"/>
            <a:ext cx="2925961" cy="1944347"/>
          </a:xfrm>
          <a:prstGeom prst="rect">
            <a:avLst/>
          </a:prstGeom>
        </p:spPr>
      </p:pic>
      <p:sp>
        <p:nvSpPr>
          <p:cNvPr id="3" name="Content Placeholder 2"/>
          <p:cNvSpPr>
            <a:spLocks noGrp="1"/>
          </p:cNvSpPr>
          <p:nvPr>
            <p:ph idx="1"/>
          </p:nvPr>
        </p:nvSpPr>
        <p:spPr>
          <a:xfrm>
            <a:off x="356378" y="642113"/>
            <a:ext cx="4590764" cy="6035039"/>
          </a:xfrm>
        </p:spPr>
        <p:txBody>
          <a:bodyPr>
            <a:normAutofit lnSpcReduction="10000"/>
          </a:bodyPr>
          <a:lstStyle/>
          <a:p>
            <a:pPr>
              <a:lnSpc>
                <a:spcPct val="200000"/>
              </a:lnSpc>
              <a:spcBef>
                <a:spcPts val="0"/>
              </a:spcBef>
            </a:pPr>
            <a:r>
              <a:rPr lang="en-US" sz="2000" dirty="0"/>
              <a:t>Landing page offers direct access to login and registration  </a:t>
            </a:r>
          </a:p>
          <a:p>
            <a:pPr>
              <a:lnSpc>
                <a:spcPct val="200000"/>
              </a:lnSpc>
              <a:spcBef>
                <a:spcPts val="0"/>
              </a:spcBef>
            </a:pPr>
            <a:r>
              <a:rPr lang="en-US" sz="2000" dirty="0"/>
              <a:t>Login page validates user credentials securely  </a:t>
            </a:r>
          </a:p>
          <a:p>
            <a:pPr>
              <a:lnSpc>
                <a:spcPct val="200000"/>
              </a:lnSpc>
              <a:spcBef>
                <a:spcPts val="0"/>
              </a:spcBef>
            </a:pPr>
            <a:r>
              <a:rPr lang="en-US" sz="2000" dirty="0"/>
              <a:t>Registration page stores new user accounts with hashed passwords  </a:t>
            </a:r>
          </a:p>
          <a:p>
            <a:pPr>
              <a:lnSpc>
                <a:spcPct val="200000"/>
              </a:lnSpc>
              <a:spcBef>
                <a:spcPts val="0"/>
              </a:spcBef>
            </a:pPr>
            <a:r>
              <a:rPr lang="en-US" sz="2000" dirty="0"/>
              <a:t>Interface designed for simplicity and easy navigation  </a:t>
            </a:r>
          </a:p>
          <a:p>
            <a:pPr>
              <a:lnSpc>
                <a:spcPct val="200000"/>
              </a:lnSpc>
              <a:spcBef>
                <a:spcPts val="0"/>
              </a:spcBef>
            </a:pPr>
            <a:r>
              <a:rPr lang="en-US" sz="2000" dirty="0"/>
              <a:t>Supports authentication for all protected system pages</a:t>
            </a:r>
          </a:p>
        </p:txBody>
      </p:sp>
      <p:pic>
        <p:nvPicPr>
          <p:cNvPr id="7" name="Picture 6">
            <a:extLst>
              <a:ext uri="{FF2B5EF4-FFF2-40B4-BE49-F238E27FC236}">
                <a16:creationId xmlns:a16="http://schemas.microsoft.com/office/drawing/2014/main" id="{A3608B7A-B777-50E7-F00D-3322DD828886}"/>
              </a:ext>
            </a:extLst>
          </p:cNvPr>
          <p:cNvPicPr>
            <a:picLocks noChangeAspect="1"/>
          </p:cNvPicPr>
          <p:nvPr/>
        </p:nvPicPr>
        <p:blipFill>
          <a:blip r:embed="rId4"/>
          <a:stretch>
            <a:fillRect/>
          </a:stretch>
        </p:blipFill>
        <p:spPr>
          <a:xfrm>
            <a:off x="4893225" y="1300019"/>
            <a:ext cx="2925961" cy="23027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0563" y="-244453"/>
            <a:ext cx="5629972" cy="1421144"/>
          </a:xfrm>
        </p:spPr>
        <p:txBody>
          <a:bodyPr anchor="ctr">
            <a:normAutofit/>
          </a:bodyPr>
          <a:lstStyle/>
          <a:p>
            <a:r>
              <a:rPr lang="en-US" sz="4000" dirty="0"/>
              <a:t>Enrollment Pages</a:t>
            </a:r>
          </a:p>
        </p:txBody>
      </p:sp>
      <p:pic>
        <p:nvPicPr>
          <p:cNvPr id="6" name="Picture 5">
            <a:extLst>
              <a:ext uri="{FF2B5EF4-FFF2-40B4-BE49-F238E27FC236}">
                <a16:creationId xmlns:a16="http://schemas.microsoft.com/office/drawing/2014/main" id="{0C85070E-4390-D3DB-4964-C19E7AB0E279}"/>
              </a:ext>
            </a:extLst>
          </p:cNvPr>
          <p:cNvPicPr>
            <a:picLocks noChangeAspect="1"/>
          </p:cNvPicPr>
          <p:nvPr/>
        </p:nvPicPr>
        <p:blipFill>
          <a:blip r:embed="rId3"/>
          <a:stretch>
            <a:fillRect/>
          </a:stretch>
        </p:blipFill>
        <p:spPr>
          <a:xfrm>
            <a:off x="5001884" y="832104"/>
            <a:ext cx="4065872" cy="2211121"/>
          </a:xfrm>
          <a:prstGeom prst="rect">
            <a:avLst/>
          </a:prstGeom>
          <a:ln w="19050" cap="sq">
            <a:solidFill>
              <a:schemeClr val="accent2">
                <a:lumMod val="75000"/>
              </a:schemeClr>
            </a:solidFill>
            <a:prstDash val="solid"/>
            <a:miter lim="800000"/>
          </a:ln>
          <a:effectLst>
            <a:outerShdw blurRad="50800" dist="38100" dir="2700000" algn="tl" rotWithShape="0">
              <a:srgbClr val="000000">
                <a:alpha val="43000"/>
              </a:srgbClr>
            </a:outerShdw>
          </a:effectLst>
        </p:spPr>
      </p:pic>
      <p:sp>
        <p:nvSpPr>
          <p:cNvPr id="30" name="Content Placeholder 2"/>
          <p:cNvSpPr>
            <a:spLocks noGrp="1"/>
          </p:cNvSpPr>
          <p:nvPr>
            <p:ph idx="1"/>
          </p:nvPr>
        </p:nvSpPr>
        <p:spPr>
          <a:xfrm>
            <a:off x="350563" y="832104"/>
            <a:ext cx="4583012" cy="5896623"/>
          </a:xfrm>
        </p:spPr>
        <p:txBody>
          <a:bodyPr>
            <a:normAutofit lnSpcReduction="10000"/>
          </a:bodyPr>
          <a:lstStyle/>
          <a:p>
            <a:pPr>
              <a:lnSpc>
                <a:spcPct val="200000"/>
              </a:lnSpc>
              <a:spcBef>
                <a:spcPts val="0"/>
              </a:spcBef>
            </a:pPr>
            <a:r>
              <a:rPr lang="en-US" sz="2000" dirty="0"/>
              <a:t>Displays full list of courses from the database  </a:t>
            </a:r>
          </a:p>
          <a:p>
            <a:pPr>
              <a:lnSpc>
                <a:spcPct val="200000"/>
              </a:lnSpc>
              <a:spcBef>
                <a:spcPts val="0"/>
              </a:spcBef>
            </a:pPr>
            <a:r>
              <a:rPr lang="en-US" sz="2000" dirty="0"/>
              <a:t>Students can enroll in or remove courses instantly  </a:t>
            </a:r>
          </a:p>
          <a:p>
            <a:pPr>
              <a:lnSpc>
                <a:spcPct val="200000"/>
              </a:lnSpc>
              <a:spcBef>
                <a:spcPts val="0"/>
              </a:spcBef>
            </a:pPr>
            <a:r>
              <a:rPr lang="en-US" sz="2000" dirty="0"/>
              <a:t>“My Courses” page shows classes already registered  </a:t>
            </a:r>
          </a:p>
          <a:p>
            <a:pPr>
              <a:lnSpc>
                <a:spcPct val="200000"/>
              </a:lnSpc>
              <a:spcBef>
                <a:spcPts val="0"/>
              </a:spcBef>
            </a:pPr>
            <a:r>
              <a:rPr lang="en-US" sz="2000" dirty="0"/>
              <a:t>Updates reflect real-time changes in the SQL tables  </a:t>
            </a:r>
          </a:p>
          <a:p>
            <a:pPr>
              <a:lnSpc>
                <a:spcPct val="200000"/>
              </a:lnSpc>
              <a:spcBef>
                <a:spcPts val="0"/>
              </a:spcBef>
            </a:pPr>
            <a:r>
              <a:rPr lang="en-US" sz="2000" dirty="0"/>
              <a:t>Structured for clarity and smooth user experience</a:t>
            </a:r>
          </a:p>
        </p:txBody>
      </p:sp>
      <p:pic>
        <p:nvPicPr>
          <p:cNvPr id="5" name="Picture 4">
            <a:extLst>
              <a:ext uri="{FF2B5EF4-FFF2-40B4-BE49-F238E27FC236}">
                <a16:creationId xmlns:a16="http://schemas.microsoft.com/office/drawing/2014/main" id="{F6D15E47-C933-AD8B-5156-008146986149}"/>
              </a:ext>
            </a:extLst>
          </p:cNvPr>
          <p:cNvPicPr>
            <a:picLocks noChangeAspect="1"/>
          </p:cNvPicPr>
          <p:nvPr/>
        </p:nvPicPr>
        <p:blipFill>
          <a:blip r:embed="rId4"/>
          <a:stretch>
            <a:fillRect/>
          </a:stretch>
        </p:blipFill>
        <p:spPr>
          <a:xfrm>
            <a:off x="5207894" y="3409210"/>
            <a:ext cx="3653851" cy="2602341"/>
          </a:xfrm>
          <a:prstGeom prst="rect">
            <a:avLst/>
          </a:prstGeom>
          <a:ln w="19050" cap="sq">
            <a:solidFill>
              <a:schemeClr val="accent2">
                <a:lumMod val="75000"/>
              </a:schemeClr>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5432" y="45757"/>
            <a:ext cx="4813807" cy="624840"/>
          </a:xfrm>
        </p:spPr>
        <p:txBody>
          <a:bodyPr>
            <a:noAutofit/>
          </a:bodyPr>
          <a:lstStyle/>
          <a:p>
            <a:r>
              <a:rPr lang="en-US" sz="4000" dirty="0"/>
              <a:t>MySQL Database</a:t>
            </a:r>
          </a:p>
        </p:txBody>
      </p:sp>
      <p:pic>
        <p:nvPicPr>
          <p:cNvPr id="7" name="Picture 6">
            <a:extLst>
              <a:ext uri="{FF2B5EF4-FFF2-40B4-BE49-F238E27FC236}">
                <a16:creationId xmlns:a16="http://schemas.microsoft.com/office/drawing/2014/main" id="{E1C86595-994D-910E-FFF8-96B24A2DF07A}"/>
              </a:ext>
            </a:extLst>
          </p:cNvPr>
          <p:cNvPicPr>
            <a:picLocks noChangeAspect="1"/>
          </p:cNvPicPr>
          <p:nvPr/>
        </p:nvPicPr>
        <p:blipFill>
          <a:blip r:embed="rId3"/>
          <a:stretch>
            <a:fillRect/>
          </a:stretch>
        </p:blipFill>
        <p:spPr>
          <a:xfrm>
            <a:off x="4479508" y="1608696"/>
            <a:ext cx="4574823" cy="995024"/>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254F4034-DBF7-5B8C-B4F0-A53054A61755}"/>
              </a:ext>
            </a:extLst>
          </p:cNvPr>
          <p:cNvPicPr>
            <a:picLocks noChangeAspect="1"/>
          </p:cNvPicPr>
          <p:nvPr/>
        </p:nvPicPr>
        <p:blipFill>
          <a:blip r:embed="rId4"/>
          <a:srcRect r="12338"/>
          <a:stretch>
            <a:fillRect/>
          </a:stretch>
        </p:blipFill>
        <p:spPr>
          <a:xfrm>
            <a:off x="4547092" y="4412319"/>
            <a:ext cx="4507239" cy="1079737"/>
          </a:xfrm>
          <a:prstGeom prst="rect">
            <a:avLst/>
          </a:prstGeom>
          <a:ln>
            <a:noFill/>
          </a:ln>
          <a:effectLst>
            <a:outerShdw blurRad="292100" dist="139700" dir="2700000" algn="tl" rotWithShape="0">
              <a:srgbClr val="333333">
                <a:alpha val="65000"/>
              </a:srgbClr>
            </a:outerShdw>
          </a:effectLst>
        </p:spPr>
      </p:pic>
      <p:sp>
        <p:nvSpPr>
          <p:cNvPr id="3" name="Content Placeholder 2"/>
          <p:cNvSpPr>
            <a:spLocks noGrp="1"/>
          </p:cNvSpPr>
          <p:nvPr>
            <p:ph idx="1"/>
          </p:nvPr>
        </p:nvSpPr>
        <p:spPr>
          <a:xfrm>
            <a:off x="244065" y="672065"/>
            <a:ext cx="4574823" cy="6198880"/>
          </a:xfrm>
        </p:spPr>
        <p:txBody>
          <a:bodyPr>
            <a:normAutofit/>
          </a:bodyPr>
          <a:lstStyle/>
          <a:p>
            <a:pPr>
              <a:lnSpc>
                <a:spcPct val="200000"/>
              </a:lnSpc>
              <a:spcBef>
                <a:spcPts val="0"/>
              </a:spcBef>
            </a:pPr>
            <a:r>
              <a:rPr lang="en-US" sz="2000" dirty="0"/>
              <a:t>Three main tables: Users, Courses, Registrations  </a:t>
            </a:r>
          </a:p>
          <a:p>
            <a:pPr>
              <a:lnSpc>
                <a:spcPct val="200000"/>
              </a:lnSpc>
              <a:spcBef>
                <a:spcPts val="0"/>
              </a:spcBef>
            </a:pPr>
            <a:r>
              <a:rPr lang="en-US" sz="2000" dirty="0"/>
              <a:t>Users table contains secure account  and login data  </a:t>
            </a:r>
          </a:p>
          <a:p>
            <a:pPr>
              <a:lnSpc>
                <a:spcPct val="200000"/>
              </a:lnSpc>
              <a:spcBef>
                <a:spcPts val="0"/>
              </a:spcBef>
            </a:pPr>
            <a:r>
              <a:rPr lang="en-US" sz="2000" dirty="0"/>
              <a:t>Courses table holds course details and instructor info  </a:t>
            </a:r>
          </a:p>
          <a:p>
            <a:pPr>
              <a:lnSpc>
                <a:spcPct val="200000"/>
              </a:lnSpc>
              <a:spcBef>
                <a:spcPts val="0"/>
              </a:spcBef>
            </a:pPr>
            <a:r>
              <a:rPr lang="en-US" sz="2000" dirty="0"/>
              <a:t>Registrations table maps user enrollments to course IDs  </a:t>
            </a:r>
          </a:p>
          <a:p>
            <a:pPr>
              <a:lnSpc>
                <a:spcPct val="200000"/>
              </a:lnSpc>
              <a:spcBef>
                <a:spcPts val="0"/>
              </a:spcBef>
            </a:pPr>
            <a:r>
              <a:rPr lang="en-US" sz="2000" dirty="0"/>
              <a:t>Primary/foreign keys ensure data integrity and consistency</a:t>
            </a:r>
          </a:p>
        </p:txBody>
      </p:sp>
      <p:pic>
        <p:nvPicPr>
          <p:cNvPr id="9" name="Picture 8">
            <a:extLst>
              <a:ext uri="{FF2B5EF4-FFF2-40B4-BE49-F238E27FC236}">
                <a16:creationId xmlns:a16="http://schemas.microsoft.com/office/drawing/2014/main" id="{A1C859A3-547E-8C50-9B36-AB67095F15AD}"/>
              </a:ext>
            </a:extLst>
          </p:cNvPr>
          <p:cNvPicPr>
            <a:picLocks noChangeAspect="1"/>
          </p:cNvPicPr>
          <p:nvPr/>
        </p:nvPicPr>
        <p:blipFill>
          <a:blip r:embed="rId5"/>
          <a:stretch>
            <a:fillRect/>
          </a:stretch>
        </p:blipFill>
        <p:spPr>
          <a:xfrm>
            <a:off x="4645152" y="3101966"/>
            <a:ext cx="4442972" cy="920514"/>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38763" y="19308"/>
            <a:ext cx="4984483" cy="849372"/>
          </a:xfrm>
        </p:spPr>
        <p:txBody>
          <a:bodyPr>
            <a:normAutofit fontScale="90000"/>
          </a:bodyPr>
          <a:lstStyle/>
          <a:p>
            <a:r>
              <a:rPr lang="en-US" sz="4400" dirty="0"/>
              <a:t>Registration Workflow</a:t>
            </a:r>
          </a:p>
        </p:txBody>
      </p:sp>
      <p:pic>
        <p:nvPicPr>
          <p:cNvPr id="7" name="Picture 6">
            <a:extLst>
              <a:ext uri="{FF2B5EF4-FFF2-40B4-BE49-F238E27FC236}">
                <a16:creationId xmlns:a16="http://schemas.microsoft.com/office/drawing/2014/main" id="{056FBBC4-9371-6029-2320-F8366B2C4AC7}"/>
              </a:ext>
            </a:extLst>
          </p:cNvPr>
          <p:cNvPicPr>
            <a:picLocks noChangeAspect="1"/>
          </p:cNvPicPr>
          <p:nvPr/>
        </p:nvPicPr>
        <p:blipFill>
          <a:blip r:embed="rId3"/>
          <a:stretch>
            <a:fillRect/>
          </a:stretch>
        </p:blipFill>
        <p:spPr>
          <a:xfrm>
            <a:off x="4438001" y="1078992"/>
            <a:ext cx="4457705" cy="2139696"/>
          </a:xfrm>
          <a:prstGeom prst="rect">
            <a:avLst/>
          </a:prstGeom>
        </p:spPr>
      </p:pic>
      <p:sp>
        <p:nvSpPr>
          <p:cNvPr id="3" name="Content Placeholder 2"/>
          <p:cNvSpPr>
            <a:spLocks noGrp="1"/>
          </p:cNvSpPr>
          <p:nvPr>
            <p:ph idx="1"/>
          </p:nvPr>
        </p:nvSpPr>
        <p:spPr>
          <a:xfrm>
            <a:off x="435048" y="558300"/>
            <a:ext cx="3788959" cy="6153912"/>
          </a:xfrm>
        </p:spPr>
        <p:txBody>
          <a:bodyPr>
            <a:normAutofit lnSpcReduction="10000"/>
          </a:bodyPr>
          <a:lstStyle/>
          <a:p>
            <a:pPr>
              <a:lnSpc>
                <a:spcPct val="210000"/>
              </a:lnSpc>
            </a:pPr>
            <a:r>
              <a:rPr lang="en-US" sz="2000" dirty="0"/>
              <a:t>SQL INSERT creates new course registrations  </a:t>
            </a:r>
          </a:p>
          <a:p>
            <a:pPr>
              <a:lnSpc>
                <a:spcPct val="200000"/>
              </a:lnSpc>
              <a:spcBef>
                <a:spcPts val="0"/>
              </a:spcBef>
            </a:pPr>
            <a:r>
              <a:rPr lang="en-US" sz="2000" dirty="0"/>
              <a:t>SQL DELETE removes existing course selections  </a:t>
            </a:r>
          </a:p>
          <a:p>
            <a:pPr>
              <a:lnSpc>
                <a:spcPct val="200000"/>
              </a:lnSpc>
              <a:spcBef>
                <a:spcPts val="0"/>
              </a:spcBef>
            </a:pPr>
            <a:r>
              <a:rPr lang="en-US" sz="2000" dirty="0"/>
              <a:t>Before-and-after table views confirm successful updates  </a:t>
            </a:r>
          </a:p>
          <a:p>
            <a:pPr>
              <a:lnSpc>
                <a:spcPct val="200000"/>
              </a:lnSpc>
            </a:pPr>
            <a:r>
              <a:rPr lang="en-US" sz="2000" dirty="0"/>
              <a:t>Logic supports multiple enrollments per user  </a:t>
            </a:r>
          </a:p>
          <a:p>
            <a:pPr>
              <a:lnSpc>
                <a:spcPct val="200000"/>
              </a:lnSpc>
            </a:pPr>
            <a:r>
              <a:rPr lang="en-US" sz="2000" dirty="0"/>
              <a:t>Workflow reflects accurate real-time system behavior</a:t>
            </a:r>
          </a:p>
        </p:txBody>
      </p:sp>
      <p:pic>
        <p:nvPicPr>
          <p:cNvPr id="5" name="Picture 4">
            <a:extLst>
              <a:ext uri="{FF2B5EF4-FFF2-40B4-BE49-F238E27FC236}">
                <a16:creationId xmlns:a16="http://schemas.microsoft.com/office/drawing/2014/main" id="{941F8D0B-01F8-DE96-EB34-E0238F5A9FC3}"/>
              </a:ext>
            </a:extLst>
          </p:cNvPr>
          <p:cNvPicPr>
            <a:picLocks noChangeAspect="1"/>
          </p:cNvPicPr>
          <p:nvPr/>
        </p:nvPicPr>
        <p:blipFill>
          <a:blip r:embed="rId4"/>
          <a:stretch>
            <a:fillRect/>
          </a:stretch>
        </p:blipFill>
        <p:spPr>
          <a:xfrm>
            <a:off x="4438001" y="3639313"/>
            <a:ext cx="4556497" cy="226685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0031" y="134112"/>
            <a:ext cx="6347713" cy="1320800"/>
          </a:xfrm>
        </p:spPr>
        <p:txBody>
          <a:bodyPr>
            <a:normAutofit/>
          </a:bodyPr>
          <a:lstStyle/>
          <a:p>
            <a:r>
              <a:rPr sz="4000" dirty="0"/>
              <a:t>PHP Code Overview</a:t>
            </a:r>
          </a:p>
        </p:txBody>
      </p:sp>
      <p:sp>
        <p:nvSpPr>
          <p:cNvPr id="3" name="Content Placeholder 2"/>
          <p:cNvSpPr>
            <a:spLocks noGrp="1"/>
          </p:cNvSpPr>
          <p:nvPr>
            <p:ph idx="1"/>
          </p:nvPr>
        </p:nvSpPr>
        <p:spPr>
          <a:xfrm>
            <a:off x="923543" y="823746"/>
            <a:ext cx="6440426" cy="3112972"/>
          </a:xfrm>
        </p:spPr>
        <p:txBody>
          <a:bodyPr>
            <a:normAutofit lnSpcReduction="10000"/>
          </a:bodyPr>
          <a:lstStyle/>
          <a:p>
            <a:r>
              <a:rPr lang="en-US" sz="2000" dirty="0" err="1"/>
              <a:t>database.php</a:t>
            </a:r>
            <a:r>
              <a:rPr lang="en-US" sz="2000" dirty="0"/>
              <a:t> establishes MySQL connection class  </a:t>
            </a:r>
          </a:p>
          <a:p>
            <a:pPr>
              <a:lnSpc>
                <a:spcPct val="200000"/>
              </a:lnSpc>
            </a:pPr>
            <a:r>
              <a:rPr lang="en-US" sz="2000" dirty="0" err="1"/>
              <a:t>register.php</a:t>
            </a:r>
            <a:r>
              <a:rPr lang="en-US" sz="2000" dirty="0"/>
              <a:t> handles new account creation and hashing  </a:t>
            </a:r>
          </a:p>
          <a:p>
            <a:pPr>
              <a:lnSpc>
                <a:spcPct val="200000"/>
              </a:lnSpc>
            </a:pPr>
            <a:r>
              <a:rPr lang="en-US" sz="2000" dirty="0" err="1"/>
              <a:t>login.php</a:t>
            </a:r>
            <a:r>
              <a:rPr lang="en-US" sz="2000" dirty="0"/>
              <a:t> verifies stored credentials securely  </a:t>
            </a:r>
          </a:p>
          <a:p>
            <a:pPr>
              <a:lnSpc>
                <a:spcPct val="200000"/>
              </a:lnSpc>
            </a:pPr>
            <a:r>
              <a:rPr lang="en-US" sz="2000" dirty="0"/>
              <a:t>Other scripts manage course enrollment actions  </a:t>
            </a:r>
          </a:p>
          <a:p>
            <a:pPr>
              <a:lnSpc>
                <a:spcPct val="200000"/>
              </a:lnSpc>
            </a:pPr>
            <a:r>
              <a:rPr lang="en-US" sz="2000" dirty="0"/>
              <a:t>PHP drives dynamic pages and server-side logic</a:t>
            </a:r>
            <a:endParaRPr sz="2000" dirty="0"/>
          </a:p>
        </p:txBody>
      </p:sp>
      <p:pic>
        <p:nvPicPr>
          <p:cNvPr id="5" name="Picture 4">
            <a:extLst>
              <a:ext uri="{FF2B5EF4-FFF2-40B4-BE49-F238E27FC236}">
                <a16:creationId xmlns:a16="http://schemas.microsoft.com/office/drawing/2014/main" id="{DE62BD9A-2E92-0CE2-B6DF-36FC8EAE9B96}"/>
              </a:ext>
            </a:extLst>
          </p:cNvPr>
          <p:cNvPicPr>
            <a:picLocks noChangeAspect="1"/>
          </p:cNvPicPr>
          <p:nvPr/>
        </p:nvPicPr>
        <p:blipFill>
          <a:blip r:embed="rId3"/>
          <a:stretch>
            <a:fillRect/>
          </a:stretch>
        </p:blipFill>
        <p:spPr>
          <a:xfrm>
            <a:off x="1670303" y="4537266"/>
            <a:ext cx="4634422" cy="2186622"/>
          </a:xfrm>
          <a:prstGeom prst="rect">
            <a:avLst/>
          </a:prstGeom>
          <a:ln w="19050" cap="sq">
            <a:solidFill>
              <a:schemeClr val="accent2">
                <a:lumMod val="75000"/>
              </a:schemeClr>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6663C058-F92F-4DD7-B347-8A8B9899EC9D}"/>
              </a:ext>
            </a:extLst>
          </p:cNvPr>
          <p:cNvPicPr>
            <a:picLocks noChangeAspect="1"/>
          </p:cNvPicPr>
          <p:nvPr/>
        </p:nvPicPr>
        <p:blipFill>
          <a:blip r:embed="rId4"/>
          <a:stretch>
            <a:fillRect/>
          </a:stretch>
        </p:blipFill>
        <p:spPr>
          <a:xfrm>
            <a:off x="1401115" y="4141728"/>
            <a:ext cx="5172797" cy="190527"/>
          </a:xfrm>
          <a:prstGeom prst="rect">
            <a:avLst/>
          </a:prstGeom>
          <a:ln w="19050" cap="sq">
            <a:solidFill>
              <a:schemeClr val="accent2">
                <a:lumMod val="75000"/>
              </a:schemeClr>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482553"/>
            <a:ext cx="6347713" cy="1320800"/>
          </a:xfrm>
        </p:spPr>
        <p:txBody>
          <a:bodyPr>
            <a:normAutofit/>
          </a:bodyPr>
          <a:lstStyle/>
          <a:p>
            <a:r>
              <a:rPr lang="en-US" sz="4000" dirty="0"/>
              <a:t>Key PHP Features</a:t>
            </a:r>
          </a:p>
        </p:txBody>
      </p:sp>
      <p:sp>
        <p:nvSpPr>
          <p:cNvPr id="3" name="Content Placeholder 2"/>
          <p:cNvSpPr>
            <a:spLocks noGrp="1"/>
          </p:cNvSpPr>
          <p:nvPr>
            <p:ph idx="1"/>
          </p:nvPr>
        </p:nvSpPr>
        <p:spPr/>
        <p:txBody>
          <a:bodyPr>
            <a:normAutofit/>
          </a:bodyPr>
          <a:lstStyle/>
          <a:p>
            <a:pPr>
              <a:lnSpc>
                <a:spcPct val="200000"/>
              </a:lnSpc>
              <a:defRPr sz="2000"/>
            </a:pPr>
            <a:r>
              <a:rPr lang="en-US" dirty="0"/>
              <a:t>Secure password hashing using PHP’s default algorithm  </a:t>
            </a:r>
          </a:p>
          <a:p>
            <a:pPr>
              <a:lnSpc>
                <a:spcPct val="200000"/>
              </a:lnSpc>
              <a:defRPr sz="2000"/>
            </a:pPr>
            <a:r>
              <a:rPr lang="en-US" dirty="0"/>
              <a:t>CRUD operations for enrollment and user data  </a:t>
            </a:r>
          </a:p>
          <a:p>
            <a:pPr>
              <a:lnSpc>
                <a:spcPct val="200000"/>
              </a:lnSpc>
              <a:defRPr sz="2000"/>
            </a:pPr>
            <a:r>
              <a:rPr lang="en-US" dirty="0"/>
              <a:t>Session handling ensures protected routes  </a:t>
            </a:r>
          </a:p>
          <a:p>
            <a:pPr>
              <a:lnSpc>
                <a:spcPct val="200000"/>
              </a:lnSpc>
              <a:defRPr sz="2000"/>
            </a:pPr>
            <a:r>
              <a:rPr lang="en-US" dirty="0"/>
              <a:t>Error checking for invalid inputs or failures  </a:t>
            </a:r>
          </a:p>
          <a:p>
            <a:pPr>
              <a:lnSpc>
                <a:spcPct val="200000"/>
              </a:lnSpc>
              <a:defRPr sz="2000"/>
            </a:pPr>
            <a:r>
              <a:rPr lang="en-US" dirty="0"/>
              <a:t>Clean, organized structure for easier maintenance </a:t>
            </a:r>
          </a:p>
        </p:txBody>
      </p:sp>
      <p:pic>
        <p:nvPicPr>
          <p:cNvPr id="5" name="Picture 4">
            <a:extLst>
              <a:ext uri="{FF2B5EF4-FFF2-40B4-BE49-F238E27FC236}">
                <a16:creationId xmlns:a16="http://schemas.microsoft.com/office/drawing/2014/main" id="{48B95BE1-CD6C-F80A-9506-0D9972789FAA}"/>
              </a:ext>
            </a:extLst>
          </p:cNvPr>
          <p:cNvPicPr>
            <a:picLocks noChangeAspect="1"/>
          </p:cNvPicPr>
          <p:nvPr/>
        </p:nvPicPr>
        <p:blipFill>
          <a:blip r:embed="rId3"/>
          <a:stretch>
            <a:fillRect/>
          </a:stretch>
        </p:blipFill>
        <p:spPr>
          <a:xfrm>
            <a:off x="1213103" y="1446115"/>
            <a:ext cx="5410955" cy="71447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01896" y="-281130"/>
            <a:ext cx="3807464" cy="1508760"/>
          </a:xfrm>
        </p:spPr>
        <p:txBody>
          <a:bodyPr anchor="ctr">
            <a:normAutofit/>
          </a:bodyPr>
          <a:lstStyle/>
          <a:p>
            <a:pPr algn="ctr"/>
            <a:r>
              <a:rPr lang="en-US" sz="4000" dirty="0"/>
              <a:t>Testing Summary</a:t>
            </a:r>
          </a:p>
        </p:txBody>
      </p:sp>
      <p:pic>
        <p:nvPicPr>
          <p:cNvPr id="4" name="Picture 3" descr="A screenshot of a computer&#10;&#10;AI-generated content may be incorrect.">
            <a:extLst>
              <a:ext uri="{FF2B5EF4-FFF2-40B4-BE49-F238E27FC236}">
                <a16:creationId xmlns:a16="http://schemas.microsoft.com/office/drawing/2014/main" id="{5EBA36F5-70EA-5B32-E84C-248D3FD98460}"/>
              </a:ext>
            </a:extLst>
          </p:cNvPr>
          <p:cNvPicPr>
            <a:picLocks noChangeAspect="1"/>
          </p:cNvPicPr>
          <p:nvPr/>
        </p:nvPicPr>
        <p:blipFill>
          <a:blip r:embed="rId3"/>
          <a:srcRect r="43709" b="1"/>
          <a:stretch>
            <a:fillRect/>
          </a:stretch>
        </p:blipFill>
        <p:spPr>
          <a:xfrm>
            <a:off x="5532120" y="1731016"/>
            <a:ext cx="3411308" cy="399964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Content Placeholder 2"/>
          <p:cNvSpPr>
            <a:spLocks noGrp="1"/>
          </p:cNvSpPr>
          <p:nvPr>
            <p:ph idx="1"/>
          </p:nvPr>
        </p:nvSpPr>
        <p:spPr>
          <a:xfrm>
            <a:off x="429768" y="981670"/>
            <a:ext cx="5102352" cy="5876330"/>
          </a:xfrm>
        </p:spPr>
        <p:txBody>
          <a:bodyPr>
            <a:normAutofit/>
          </a:bodyPr>
          <a:lstStyle/>
          <a:p>
            <a:pPr>
              <a:lnSpc>
                <a:spcPct val="200000"/>
              </a:lnSpc>
            </a:pPr>
            <a:r>
              <a:rPr lang="en-US" sz="2000" dirty="0"/>
              <a:t>Unit testing validated individual PHP functions  </a:t>
            </a:r>
          </a:p>
          <a:p>
            <a:pPr>
              <a:lnSpc>
                <a:spcPct val="200000"/>
              </a:lnSpc>
            </a:pPr>
            <a:r>
              <a:rPr lang="en-US" sz="2000" dirty="0"/>
              <a:t>Integration testing checked interactions with MySQL  </a:t>
            </a:r>
          </a:p>
          <a:p>
            <a:pPr>
              <a:lnSpc>
                <a:spcPct val="200000"/>
              </a:lnSpc>
            </a:pPr>
            <a:r>
              <a:rPr lang="en-US" sz="2000" dirty="0"/>
              <a:t>System testing verified workflows end-to-end  </a:t>
            </a:r>
          </a:p>
          <a:p>
            <a:pPr>
              <a:lnSpc>
                <a:spcPct val="200000"/>
              </a:lnSpc>
            </a:pPr>
            <a:r>
              <a:rPr lang="en-US" sz="2000" dirty="0"/>
              <a:t>All tests traced back to SRS requirements  </a:t>
            </a:r>
          </a:p>
          <a:p>
            <a:pPr>
              <a:lnSpc>
                <a:spcPct val="200000"/>
              </a:lnSpc>
            </a:pPr>
            <a:r>
              <a:rPr lang="en-US" sz="2000" dirty="0"/>
              <a:t>Ensured reliability before final deployment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dirty="0"/>
              <a:t>Reflection</a:t>
            </a:r>
            <a:endParaRPr dirty="0"/>
          </a:p>
        </p:txBody>
      </p:sp>
      <p:sp>
        <p:nvSpPr>
          <p:cNvPr id="3" name="Content Placeholder 2"/>
          <p:cNvSpPr>
            <a:spLocks noGrp="1"/>
          </p:cNvSpPr>
          <p:nvPr>
            <p:ph idx="1"/>
          </p:nvPr>
        </p:nvSpPr>
        <p:spPr>
          <a:xfrm>
            <a:off x="609598" y="1730822"/>
            <a:ext cx="6347714" cy="3880773"/>
          </a:xfrm>
        </p:spPr>
        <p:txBody>
          <a:bodyPr>
            <a:normAutofit/>
          </a:bodyPr>
          <a:lstStyle/>
          <a:p>
            <a:pPr>
              <a:lnSpc>
                <a:spcPct val="200000"/>
              </a:lnSpc>
            </a:pPr>
            <a:r>
              <a:rPr lang="en-US" sz="2000" dirty="0"/>
              <a:t>Strengthened skills in PHP, SQL, and full-stack concepts  </a:t>
            </a:r>
          </a:p>
          <a:p>
            <a:pPr>
              <a:lnSpc>
                <a:spcPct val="200000"/>
              </a:lnSpc>
            </a:pPr>
            <a:r>
              <a:rPr lang="en-US" sz="2000" dirty="0"/>
              <a:t>Gained experience using UML for planning and design  </a:t>
            </a:r>
          </a:p>
          <a:p>
            <a:pPr>
              <a:lnSpc>
                <a:spcPct val="200000"/>
              </a:lnSpc>
            </a:pPr>
            <a:r>
              <a:rPr lang="en-US" sz="2000" dirty="0"/>
              <a:t>Learned to debug database and login issues  </a:t>
            </a:r>
          </a:p>
          <a:p>
            <a:pPr>
              <a:lnSpc>
                <a:spcPct val="200000"/>
              </a:lnSpc>
            </a:pPr>
            <a:r>
              <a:rPr lang="en-US" sz="2000" dirty="0"/>
              <a:t>Improved understanding of testing processes  </a:t>
            </a:r>
          </a:p>
          <a:p>
            <a:pPr>
              <a:lnSpc>
                <a:spcPct val="200000"/>
              </a:lnSpc>
            </a:pPr>
            <a:r>
              <a:rPr lang="en-US" sz="2000" dirty="0"/>
              <a:t>Overall, project enhanced my technical confidence </a:t>
            </a:r>
            <a:endParaRPr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160528"/>
            <a:ext cx="3377185" cy="936752"/>
          </a:xfrm>
        </p:spPr>
        <p:txBody>
          <a:bodyPr/>
          <a:lstStyle/>
          <a:p>
            <a:r>
              <a:rPr sz="4000" dirty="0"/>
              <a:t>References</a:t>
            </a:r>
            <a:endParaRPr dirty="0"/>
          </a:p>
        </p:txBody>
      </p:sp>
      <p:sp>
        <p:nvSpPr>
          <p:cNvPr id="3" name="Content Placeholder 2"/>
          <p:cNvSpPr>
            <a:spLocks noGrp="1"/>
          </p:cNvSpPr>
          <p:nvPr>
            <p:ph idx="1"/>
          </p:nvPr>
        </p:nvSpPr>
        <p:spPr>
          <a:xfrm>
            <a:off x="137160" y="960120"/>
            <a:ext cx="7309106" cy="3200400"/>
          </a:xfrm>
        </p:spPr>
        <p:txBody>
          <a:bodyPr>
            <a:noAutofit/>
          </a:bodyPr>
          <a:lstStyle/>
          <a:p>
            <a:pPr marL="457200" marR="0" indent="-457200">
              <a:lnSpc>
                <a:spcPct val="200000"/>
              </a:lnSpc>
              <a:spcBef>
                <a:spcPts val="0"/>
              </a:spcBef>
              <a:buNone/>
            </a:pPr>
            <a:r>
              <a:rPr lang="en-US" sz="2000" kern="100" dirty="0">
                <a:effectLst/>
                <a:ea typeface="Aptos" panose="020B0004020202020204" pitchFamily="34" charset="0"/>
                <a:cs typeface="Times New Roman" panose="02020603050405020304" pitchFamily="18" charset="0"/>
              </a:rPr>
              <a:t>Tsui, F., Karam, O., &amp; Bernal, B. (2018). Essentials of software engineering (4th ed.). Jones &amp; Bartlett Learning.</a:t>
            </a:r>
          </a:p>
          <a:p>
            <a:pPr marL="457200" marR="0" indent="-457200">
              <a:lnSpc>
                <a:spcPct val="200000"/>
              </a:lnSpc>
              <a:spcBef>
                <a:spcPts val="0"/>
              </a:spcBef>
              <a:buNone/>
            </a:pPr>
            <a:r>
              <a:rPr lang="en-US" sz="2000" kern="100" dirty="0">
                <a:effectLst/>
                <a:ea typeface="Aptos" panose="020B0004020202020204" pitchFamily="34" charset="0"/>
                <a:cs typeface="Times New Roman" panose="02020603050405020304" pitchFamily="18" charset="0"/>
              </a:rPr>
              <a:t>IEEE Computer Society. (2014). IEEE standard for software quality assurance processes (IEEE Std 730-2014).</a:t>
            </a:r>
          </a:p>
          <a:p>
            <a:pPr marL="457200" marR="0" indent="-457200">
              <a:lnSpc>
                <a:spcPct val="200000"/>
              </a:lnSpc>
              <a:spcBef>
                <a:spcPts val="0"/>
              </a:spcBef>
              <a:buNone/>
            </a:pPr>
            <a:r>
              <a:rPr lang="en-US" sz="2000" kern="100" dirty="0" err="1">
                <a:effectLst/>
                <a:ea typeface="Aptos" panose="020B0004020202020204" pitchFamily="34" charset="0"/>
                <a:cs typeface="Times New Roman" panose="02020603050405020304" pitchFamily="18" charset="0"/>
              </a:rPr>
              <a:t>Chillarege</a:t>
            </a:r>
            <a:r>
              <a:rPr lang="en-US" sz="2000" kern="100" dirty="0">
                <a:effectLst/>
                <a:ea typeface="Aptos" panose="020B0004020202020204" pitchFamily="34" charset="0"/>
                <a:cs typeface="Times New Roman" panose="02020603050405020304" pitchFamily="18" charset="0"/>
              </a:rPr>
              <a:t>, R., Bhandari, I. S., Chaar, J. K., Halliday, M. J., Moebus, D. S., Ray, B. K., &amp; Wong, M.-Y. (1992). Orthogonal defect classification—A concept for in-process measurements. IEEE Transactions on Software Engineering, 18(11), 943–956.</a:t>
            </a:r>
          </a:p>
          <a:p>
            <a:pPr marL="0" indent="0">
              <a:lnSpc>
                <a:spcPct val="210000"/>
              </a:lnSpc>
              <a:buNone/>
              <a:defRPr sz="2000"/>
            </a:pPr>
            <a:endParaRPr lang="en-US" dirty="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1268</TotalTime>
  <Words>1434</Words>
  <Application>Microsoft Office PowerPoint</Application>
  <PresentationFormat>On-screen Show (4:3)</PresentationFormat>
  <Paragraphs>102</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Times New Roman</vt:lpstr>
      <vt:lpstr>Trebuchet MS</vt:lpstr>
      <vt:lpstr>Wingdings 3</vt:lpstr>
      <vt:lpstr>Facet</vt:lpstr>
      <vt:lpstr>Final Software Project Presentation</vt:lpstr>
      <vt:lpstr>Agenda</vt:lpstr>
      <vt:lpstr>SRS Summary</vt:lpstr>
      <vt:lpstr>UML Overview</vt:lpstr>
      <vt:lpstr>Landing / Login Pages</vt:lpstr>
      <vt:lpstr>Enrollment Pages</vt:lpstr>
      <vt:lpstr>MySQL Database</vt:lpstr>
      <vt:lpstr>Registration Workflow</vt:lpstr>
      <vt:lpstr>PHP Code Overview</vt:lpstr>
      <vt:lpstr>Key PHP Features</vt:lpstr>
      <vt:lpstr>Testing Summary</vt:lpstr>
      <vt:lpstr>Reflection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Cort Spencer</dc:creator>
  <cp:keywords/>
  <dc:description>generated using python-pptx</dc:description>
  <cp:lastModifiedBy>Cort Spencer</cp:lastModifiedBy>
  <cp:revision>12</cp:revision>
  <dcterms:created xsi:type="dcterms:W3CDTF">2013-01-27T09:14:16Z</dcterms:created>
  <dcterms:modified xsi:type="dcterms:W3CDTF">2025-12-03T00:41:11Z</dcterms:modified>
  <cp:category/>
</cp:coreProperties>
</file>